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1E2D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6350">
            <a:solidFill>
              <a:srgbClr val="1E2D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6350">
            <a:solidFill>
              <a:srgbClr val="1E2D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6350">
            <a:solidFill>
              <a:srgbClr val="1E2D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6350">
            <a:solidFill>
              <a:srgbClr val="1E2D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6350">
            <a:solidFill>
              <a:srgbClr val="1E2D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6350">
            <a:solidFill>
              <a:srgbClr val="1E2D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6350">
            <a:solidFill>
              <a:srgbClr val="1E2D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6350">
            <a:solidFill>
              <a:srgbClr val="1E2D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6350">
            <a:solidFill>
              <a:srgbClr val="1E2D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1E2D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6350">
            <a:solidFill>
              <a:srgbClr val="1E2D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6350">
            <a:solidFill>
              <a:srgbClr val="1E2D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6350">
            <a:solidFill>
              <a:srgbClr val="1E2D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6350">
            <a:solidFill>
              <a:srgbClr val="1E2D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914400"/>
            <a:ext cx="12188952" cy="0"/>
          </a:xfrm>
          <a:prstGeom prst="line">
            <a:avLst/>
          </a:prstGeom>
          <a:noFill/>
          <a:ln w="6350">
            <a:solidFill>
              <a:srgbClr val="1E2D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1828800"/>
            <a:ext cx="12188952" cy="0"/>
          </a:xfrm>
          <a:prstGeom prst="line">
            <a:avLst/>
          </a:prstGeom>
          <a:noFill/>
          <a:ln w="6350">
            <a:solidFill>
              <a:srgbClr val="1E2D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2743200"/>
            <a:ext cx="12188952" cy="0"/>
          </a:xfrm>
          <a:prstGeom prst="line">
            <a:avLst/>
          </a:prstGeom>
          <a:noFill/>
          <a:ln w="6350">
            <a:solidFill>
              <a:srgbClr val="1E2D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657600"/>
            <a:ext cx="12188952" cy="0"/>
          </a:xfrm>
          <a:prstGeom prst="line">
            <a:avLst/>
          </a:prstGeom>
          <a:noFill/>
          <a:ln w="6350">
            <a:solidFill>
              <a:srgbClr val="1E2D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572000"/>
            <a:ext cx="12188952" cy="0"/>
          </a:xfrm>
          <a:prstGeom prst="line">
            <a:avLst/>
          </a:prstGeom>
          <a:noFill/>
          <a:ln w="6350">
            <a:solidFill>
              <a:srgbClr val="1E2D4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5486400"/>
            <a:ext cx="12188952" cy="0"/>
          </a:xfrm>
          <a:prstGeom prst="line">
            <a:avLst/>
          </a:prstGeom>
          <a:noFill/>
          <a:ln w="6350">
            <a:solidFill>
              <a:srgbClr val="1E2D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6400800"/>
            <a:ext cx="12188952" cy="0"/>
          </a:xfrm>
          <a:prstGeom prst="line">
            <a:avLst/>
          </a:prstGeom>
          <a:noFill/>
          <a:ln w="6350">
            <a:solidFill>
              <a:srgbClr val="1E2D4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0" y="2286000"/>
            <a:ext cx="2743200" cy="1828800"/>
          </a:xfrm>
          <a:prstGeom prst="ellipse">
            <a:avLst/>
          </a:prstGeom>
          <a:solidFill>
            <a:srgbClr val="083344"/>
          </a:solidFill>
          <a:ln w="12700">
            <a:solidFill>
              <a:srgbClr val="0833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164592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AirGSA</a:t>
            </a:r>
            <a:endParaRPr lang="en-US" sz="6400" dirty="0"/>
          </a:p>
        </p:txBody>
      </p:sp>
      <p:sp>
        <p:nvSpPr>
          <p:cNvPr id="27" name="Text 25"/>
          <p:cNvSpPr/>
          <p:nvPr/>
        </p:nvSpPr>
        <p:spPr>
          <a:xfrm>
            <a:off x="914400" y="28346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Overview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914400" y="3429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Aviation Cargo Partner Network · Tender Management · KPI Monitoring · Market Intelligence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46320" y="4114800"/>
            <a:ext cx="2468880" cy="38404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411480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· April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Architecture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role-based workspaces on a shared data layer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11521440" cy="27432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3566160" cy="3474720"/>
          </a:xfrm>
          <a:prstGeom prst="rect">
            <a:avLst/>
          </a:prstGeom>
          <a:solidFill>
            <a:srgbClr val="1A2744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258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171907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 desk &amp; KPI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938528"/>
            <a:ext cx="3566160" cy="2743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60520" y="1188720"/>
            <a:ext cx="3566160" cy="3474720"/>
          </a:xfrm>
          <a:prstGeom prst="rect">
            <a:avLst/>
          </a:prstGeom>
          <a:solidFill>
            <a:srgbClr val="1A2744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13258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297680" y="171907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60520" y="1938528"/>
            <a:ext cx="3566160" cy="274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1188720"/>
            <a:ext cx="3566160" cy="3474720"/>
          </a:xfrm>
          <a:prstGeom prst="rect">
            <a:avLst/>
          </a:prstGeom>
          <a:solidFill>
            <a:srgbClr val="1A2744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92440" y="13258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092440" y="171907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955280" y="1938528"/>
            <a:ext cx="3566160" cy="274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08483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Create &amp; publish tenders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25146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Compare GSA applications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294436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Commercial KPI tracking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337413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Contract register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380390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Market intelligence feed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297680" y="208483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Browse open tenders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297680" y="25146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Submit commercial proposals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297680" y="294436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Company profile management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297680" y="337413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Performance scorecard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297680" y="380390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Notifications &amp; alerts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092440" y="208483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LinkedIn import (Apify)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092440" y="25146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News source management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092440" y="294436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Platform KPI overview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092440" y="337413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Supabase schema ready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092440" y="380390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Role governance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65760" y="4846320"/>
            <a:ext cx="11338560" cy="640080"/>
          </a:xfrm>
          <a:prstGeom prst="rect">
            <a:avLst/>
          </a:prstGeom>
          <a:solidFill>
            <a:srgbClr val="0F1F35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919472"/>
            <a:ext cx="10972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Data Layer — Supabase (PostgreSQL) · Apify LinkedIn scraper · Mock-data fallback when env vars are empty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Pages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authentication required · Entry points for all user types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11521440" cy="27432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70432"/>
            <a:ext cx="5669280" cy="1554480"/>
          </a:xfrm>
          <a:prstGeom prst="rect">
            <a:avLst/>
          </a:prstGeom>
          <a:solidFill>
            <a:srgbClr val="17243A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70432"/>
            <a:ext cx="5669280" cy="36576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2618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06240" y="126187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93776" y="1572768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Hero with value proposition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" y="1828800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Live stats: revenue, loadfactor, GSA count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3776" y="2084832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Tender Control Tower preview card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3776" y="2340864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CTAs → Sign up / Marketplace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862072"/>
            <a:ext cx="5669280" cy="1554480"/>
          </a:xfrm>
          <a:prstGeom prst="rect">
            <a:avLst/>
          </a:prstGeom>
          <a:solidFill>
            <a:srgbClr val="17243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862072"/>
            <a:ext cx="5669280" cy="36576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" y="29535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06240" y="295351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/pricing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3776" y="3264408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 plans: GSA Network, Airline Desk, Enterprise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" y="3520440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Feature lists per plan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" y="3776472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Price points ($490 / $1 900 / custom)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553712"/>
            <a:ext cx="5669280" cy="1554480"/>
          </a:xfrm>
          <a:prstGeom prst="rect">
            <a:avLst/>
          </a:prstGeom>
          <a:solidFill>
            <a:srgbClr val="17243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4553712"/>
            <a:ext cx="5669280" cy="3657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" y="46451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206240" y="464515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/login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3776" y="4956048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Email + password form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3776" y="5212080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Routes to role selection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" y="5468112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Supabase Auth ready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0" y="1170432"/>
            <a:ext cx="5669280" cy="1554480"/>
          </a:xfrm>
          <a:prstGeom prst="rect">
            <a:avLst/>
          </a:prstGeom>
          <a:solidFill>
            <a:srgbClr val="17243A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0" y="1170432"/>
            <a:ext cx="5669280" cy="3657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28816" y="12618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241280" y="126187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/signup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528816" y="1572768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Name, company, email, role fields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528816" y="1828800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Role dropdown (Airline / GSA / Admin)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528816" y="2084832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Supabase onboarding hook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00800" y="2862072"/>
            <a:ext cx="5669280" cy="1554480"/>
          </a:xfrm>
          <a:prstGeom prst="rect">
            <a:avLst/>
          </a:prstGeom>
          <a:solidFill>
            <a:srgbClr val="17243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0" y="2862072"/>
            <a:ext cx="5669280" cy="365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28816" y="29535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Selection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241280" y="295351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/role-selection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528816" y="3264408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Post-login workspace picker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528816" y="3520440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Airline / GSA / Admin cards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528816" y="3776472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 opens dedicated workspace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Workspace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tender desk — from RFP creation to GSA award and KPI monitoring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11521440" cy="27432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70432"/>
            <a:ext cx="5669280" cy="1261872"/>
          </a:xfrm>
          <a:prstGeom prst="rect">
            <a:avLst/>
          </a:prstGeom>
          <a:solidFill>
            <a:srgbClr val="17243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70432"/>
            <a:ext cx="5669280" cy="36576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24358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31920" y="124358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/airline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93776" y="1536192"/>
            <a:ext cx="5440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Revenue, loadfactor, yield, active GSA KPI cards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93776" y="1801368"/>
            <a:ext cx="5440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Tender overview + selection pipeline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93776" y="2066544"/>
            <a:ext cx="5440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Map placeholder + top GSA profiles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72200" y="1170432"/>
            <a:ext cx="5669280" cy="1261872"/>
          </a:xfrm>
          <a:prstGeom prst="rect">
            <a:avLst/>
          </a:prstGeom>
          <a:solidFill>
            <a:srgbClr val="17243A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1170432"/>
            <a:ext cx="5669280" cy="36576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0216" y="124358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 Overview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738360" y="124358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/airline/tenders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300216" y="1536192"/>
            <a:ext cx="5440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tenders in card grid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300216" y="1801368"/>
            <a:ext cx="5440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Status badges (open / draft)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300216" y="2066544"/>
            <a:ext cx="5440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Link to application review per tender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2560320"/>
            <a:ext cx="5669280" cy="1261872"/>
          </a:xfrm>
          <a:prstGeom prst="rect">
            <a:avLst/>
          </a:prstGeom>
          <a:solidFill>
            <a:srgbClr val="17243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560320"/>
            <a:ext cx="5669280" cy="3657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" y="26334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Tender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931920" y="263347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/airline/tenders/create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93776" y="2926080"/>
            <a:ext cx="5440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RFP form: title, tonnage, markets, lanes, deadline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93776" y="3191256"/>
            <a:ext cx="5440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Requirements &amp; commercial expectations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93776" y="3456432"/>
            <a:ext cx="5440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Publish or save as draft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72200" y="2560320"/>
            <a:ext cx="5669280" cy="1261872"/>
          </a:xfrm>
          <a:prstGeom prst="rect">
            <a:avLst/>
          </a:prstGeom>
          <a:solidFill>
            <a:srgbClr val="17243A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72200" y="2560320"/>
            <a:ext cx="5669280" cy="3657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0216" y="26334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738360" y="263347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/airline/applications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00216" y="2926080"/>
            <a:ext cx="5440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Side-by-side GSA comparison table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300216" y="3191256"/>
            <a:ext cx="5440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Commercial / network / compliance scores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300216" y="3456432"/>
            <a:ext cx="5440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Shortlist, Accept, Reject actions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3950208"/>
            <a:ext cx="5669280" cy="1261872"/>
          </a:xfrm>
          <a:prstGeom prst="rect">
            <a:avLst/>
          </a:prstGeom>
          <a:solidFill>
            <a:srgbClr val="17243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3950208"/>
            <a:ext cx="5669280" cy="365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" y="40233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931920" y="40233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/airline/performance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93776" y="4315968"/>
            <a:ext cx="5440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Revenue trend chart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93776" y="4581144"/>
            <a:ext cx="5440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Yield chart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93776" y="4846320"/>
            <a:ext cx="5440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Route-level watchlist (loadfactor / yield alerts)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172200" y="3950208"/>
            <a:ext cx="5669280" cy="1261872"/>
          </a:xfrm>
          <a:prstGeom prst="rect">
            <a:avLst/>
          </a:prstGeom>
          <a:solidFill>
            <a:srgbClr val="17243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72200" y="3950208"/>
            <a:ext cx="5669280" cy="3657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00216" y="40233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&amp; KPI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738360" y="40233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/airline/contracts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300216" y="4315968"/>
            <a:ext cx="5440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Contract register table (partner, market, dates)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300216" y="4581144"/>
            <a:ext cx="5440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KPI targets per contract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300216" y="4846320"/>
            <a:ext cx="5440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Status: active / pending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65760" y="5340096"/>
            <a:ext cx="5669280" cy="1261872"/>
          </a:xfrm>
          <a:prstGeom prst="rect">
            <a:avLst/>
          </a:prstGeom>
          <a:solidFill>
            <a:srgbClr val="17243A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65760" y="5340096"/>
            <a:ext cx="566928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3776" y="54132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3931920" y="541324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/airline/intelligence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93776" y="5705856"/>
            <a:ext cx="5440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Embedded cargo news feed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93776" y="5971032"/>
            <a:ext cx="5440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Category-filtered NewsCards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93776" y="6236208"/>
            <a:ext cx="5440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Link to full news module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172200" y="5340096"/>
            <a:ext cx="5669280" cy="1261872"/>
          </a:xfrm>
          <a:prstGeom prst="rect">
            <a:avLst/>
          </a:prstGeom>
          <a:solidFill>
            <a:srgbClr val="17243A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172200" y="5340096"/>
            <a:ext cx="5669280" cy="36576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00216" y="54132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GSA Profile Detail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9738360" y="541324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/airline/gsa/[id]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300216" y="5705856"/>
            <a:ext cx="5440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Partner summary + scores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300216" y="5971032"/>
            <a:ext cx="5440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Coverage &amp; certifications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6300216" y="6236208"/>
            <a:ext cx="5440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Accept / Shortlist / Reject decision panel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Dashboard — Detail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/airline · Main overview for AeroBridge Cargo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11521440" cy="27432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70432"/>
            <a:ext cx="2743200" cy="1051560"/>
          </a:xfrm>
          <a:prstGeom prst="rect">
            <a:avLst/>
          </a:prstGeom>
          <a:solidFill>
            <a:srgbClr val="17243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34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499616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$1.26M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189280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+14.6%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18688" y="1170432"/>
            <a:ext cx="2743200" cy="1051560"/>
          </a:xfrm>
          <a:prstGeom prst="rect">
            <a:avLst/>
          </a:prstGeom>
          <a:solidFill>
            <a:srgbClr val="17243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55848" y="1234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Loadfactor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55848" y="1499616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55848" y="189280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 pts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71616" y="1170432"/>
            <a:ext cx="2743200" cy="1051560"/>
          </a:xfrm>
          <a:prstGeom prst="rect">
            <a:avLst/>
          </a:prstGeom>
          <a:solidFill>
            <a:srgbClr val="17243A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08776" y="1234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08776" y="1499616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$3.21/kg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08776" y="189280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+6.1%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924544" y="1170432"/>
            <a:ext cx="2743200" cy="1051560"/>
          </a:xfrm>
          <a:prstGeom prst="rect">
            <a:avLst/>
          </a:prstGeom>
          <a:solidFill>
            <a:srgbClr val="17243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61704" y="1234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GSAs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061704" y="1499616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061704" y="189280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pending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359152"/>
            <a:ext cx="6858000" cy="2148840"/>
          </a:xfrm>
          <a:prstGeom prst="rect">
            <a:avLst/>
          </a:prstGeom>
          <a:solidFill>
            <a:srgbClr val="17243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4231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 Overview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0" y="242316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Create tender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2798064"/>
            <a:ext cx="6583680" cy="603504"/>
          </a:xfrm>
          <a:prstGeom prst="rect">
            <a:avLst/>
          </a:prstGeom>
          <a:solidFill>
            <a:srgbClr val="0F1F35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285292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Europe GSA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310896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FRA/MUC/VIE → DXB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931920" y="28529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May 2026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715000" y="2907792"/>
            <a:ext cx="1005840" cy="256032"/>
          </a:xfrm>
          <a:prstGeom prst="rect">
            <a:avLst/>
          </a:prstGeom>
          <a:solidFill>
            <a:srgbClr val="064E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15000" y="290779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" y="3529584"/>
            <a:ext cx="6583680" cy="603504"/>
          </a:xfrm>
          <a:prstGeom prst="rect">
            <a:avLst/>
          </a:prstGeom>
          <a:solidFill>
            <a:srgbClr val="0F1F35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358444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 Cold-chain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" y="384048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ARN/HEL → ORD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931920" y="35844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Jun 2026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715000" y="3639312"/>
            <a:ext cx="1005840" cy="256032"/>
          </a:xfrm>
          <a:prstGeom prst="rect">
            <a:avLst/>
          </a:prstGeom>
          <a:solidFill>
            <a:srgbClr val="451A03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15000" y="363931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360920" y="2359152"/>
            <a:ext cx="4663440" cy="2148840"/>
          </a:xfrm>
          <a:prstGeom prst="rect">
            <a:avLst/>
          </a:prstGeom>
          <a:solidFill>
            <a:srgbClr val="17243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98080" y="24231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Pipeline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498080" y="2798064"/>
            <a:ext cx="4389120" cy="502920"/>
          </a:xfrm>
          <a:prstGeom prst="rect">
            <a:avLst/>
          </a:prstGeom>
          <a:solidFill>
            <a:srgbClr val="0F1F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35240" y="28346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BlueWing Cargo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635240" y="307238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91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9875520" y="2889504"/>
            <a:ext cx="914400" cy="256032"/>
          </a:xfrm>
          <a:prstGeom prst="rect">
            <a:avLst/>
          </a:prstGeom>
          <a:solidFill>
            <a:srgbClr val="0B2B1F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875520" y="28895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5.8%+1.2%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498080" y="3419856"/>
            <a:ext cx="4389120" cy="502920"/>
          </a:xfrm>
          <a:prstGeom prst="rect">
            <a:avLst/>
          </a:prstGeom>
          <a:solidFill>
            <a:srgbClr val="0F1F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35240" y="34564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NordicLift Aviation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635240" y="369417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84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9875520" y="3511296"/>
            <a:ext cx="914400" cy="256032"/>
          </a:xfrm>
          <a:prstGeom prst="rect">
            <a:avLst/>
          </a:prstGeom>
          <a:solidFill>
            <a:srgbClr val="0B2B1F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875520" y="351129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5.5%+1.0%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498080" y="4041648"/>
            <a:ext cx="4389120" cy="502920"/>
          </a:xfrm>
          <a:prstGeom prst="rect">
            <a:avLst/>
          </a:prstGeom>
          <a:solidFill>
            <a:srgbClr val="0F1F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635240" y="407822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Alpine Route Partners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635240" y="431596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78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9875520" y="4133088"/>
            <a:ext cx="914400" cy="256032"/>
          </a:xfrm>
          <a:prstGeom prst="rect">
            <a:avLst/>
          </a:prstGeom>
          <a:solidFill>
            <a:srgbClr val="0B2B1F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875520" y="41330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6.0%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65760" y="4645152"/>
            <a:ext cx="5029200" cy="1097280"/>
          </a:xfrm>
          <a:prstGeom prst="rect">
            <a:avLst/>
          </a:prstGeom>
          <a:solidFill>
            <a:srgbClr val="0D1E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4645152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  Route map (Mapbox placeholder)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577840" y="4645152"/>
            <a:ext cx="2926080" cy="1097280"/>
          </a:xfrm>
          <a:prstGeom prst="rect">
            <a:avLst/>
          </a:prstGeom>
          <a:solidFill>
            <a:srgbClr val="17243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715000" y="47548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BlueWing Cargo Solutions · DACH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8732520" y="4645152"/>
            <a:ext cx="2926080" cy="1097280"/>
          </a:xfrm>
          <a:prstGeom prst="rect">
            <a:avLst/>
          </a:prstGeom>
          <a:solidFill>
            <a:srgbClr val="17243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869680" y="47548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NordicLift Aviation · Nordics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 Lifecycle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RFP creation to GSA award — step-by-step flow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11521440" cy="27432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0" y="2286000"/>
            <a:ext cx="25603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open"/>
          </a:ln>
        </p:spPr>
      </p:sp>
      <p:sp>
        <p:nvSpPr>
          <p:cNvPr id="6" name="Shape 4"/>
          <p:cNvSpPr/>
          <p:nvPr/>
        </p:nvSpPr>
        <p:spPr>
          <a:xfrm>
            <a:off x="365760" y="1170432"/>
            <a:ext cx="2103120" cy="868680"/>
          </a:xfrm>
          <a:prstGeom prst="rect">
            <a:avLst/>
          </a:prstGeom>
          <a:solidFill>
            <a:srgbClr val="17243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161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41248" y="121615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Tender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57276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/airline/tenders/create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21945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Title, markets, lanes, tonnage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267004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Deadline &amp; requirements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3145536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Publish or save draft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82896" y="2286000"/>
            <a:ext cx="25603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open"/>
          </a:ln>
        </p:spPr>
      </p:sp>
      <p:sp>
        <p:nvSpPr>
          <p:cNvPr id="14" name="Shape 12"/>
          <p:cNvSpPr/>
          <p:nvPr/>
        </p:nvSpPr>
        <p:spPr>
          <a:xfrm>
            <a:off x="2688336" y="1170432"/>
            <a:ext cx="2103120" cy="868680"/>
          </a:xfrm>
          <a:prstGeom prst="rect">
            <a:avLst/>
          </a:prstGeom>
          <a:solidFill>
            <a:srgbClr val="17243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25496" y="12161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163824" y="121615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GSAs Apply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825496" y="157276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/gsa/tenders/[id]/apply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688336" y="21945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Commercial proposal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688336" y="267004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Commission %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688336" y="3145536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Network &amp; ops plan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205472" y="2286000"/>
            <a:ext cx="25603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open"/>
          </a:ln>
        </p:spPr>
      </p:sp>
      <p:sp>
        <p:nvSpPr>
          <p:cNvPr id="22" name="Shape 20"/>
          <p:cNvSpPr/>
          <p:nvPr/>
        </p:nvSpPr>
        <p:spPr>
          <a:xfrm>
            <a:off x="5010912" y="1170432"/>
            <a:ext cx="2103120" cy="868680"/>
          </a:xfrm>
          <a:prstGeom prst="rect">
            <a:avLst/>
          </a:prstGeom>
          <a:solidFill>
            <a:srgbClr val="17243A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48072" y="12161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486400" y="121615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48072" y="157276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/airline/applications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010912" y="21945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Score table: commercial / network / compliance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010912" y="267004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Side-by-side view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010912" y="3145536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Shortlist action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528048" y="2286000"/>
            <a:ext cx="25603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open"/>
          </a:ln>
        </p:spPr>
      </p:sp>
      <p:sp>
        <p:nvSpPr>
          <p:cNvPr id="30" name="Shape 28"/>
          <p:cNvSpPr/>
          <p:nvPr/>
        </p:nvSpPr>
        <p:spPr>
          <a:xfrm>
            <a:off x="7333488" y="1170432"/>
            <a:ext cx="2103120" cy="868680"/>
          </a:xfrm>
          <a:prstGeom prst="rect">
            <a:avLst/>
          </a:prstGeom>
          <a:solidFill>
            <a:srgbClr val="17243A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70648" y="12161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808976" y="121615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470648" y="157276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/airline/applications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333488" y="21945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Accept best application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333488" y="267004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Status → accepted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333488" y="3145536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Contract created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9656064" y="1170432"/>
            <a:ext cx="2103120" cy="868680"/>
          </a:xfrm>
          <a:prstGeom prst="rect">
            <a:avLst/>
          </a:prstGeom>
          <a:solidFill>
            <a:srgbClr val="17243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793224" y="12161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10131552" y="121615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793224" y="157276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/airline/contracts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9656064" y="21945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Contract register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9656064" y="267004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KPI targets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9656064" y="3145536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Performance dashboard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65760" y="3749040"/>
            <a:ext cx="11338560" cy="1188720"/>
          </a:xfrm>
          <a:prstGeom prst="rect">
            <a:avLst/>
          </a:prstGeom>
          <a:solidFill>
            <a:srgbClr val="0F1F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4360" y="3840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 Status Flow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02920" y="4224528"/>
            <a:ext cx="1371600" cy="256032"/>
          </a:xfrm>
          <a:prstGeom prst="rect">
            <a:avLst/>
          </a:prstGeom>
          <a:solidFill>
            <a:srgbClr val="0E2233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422452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920240" y="4224528"/>
            <a:ext cx="1371600" cy="256032"/>
          </a:xfrm>
          <a:prstGeom prst="rect">
            <a:avLst/>
          </a:prstGeom>
          <a:solidFill>
            <a:srgbClr val="0E2233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920240" y="422452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337560" y="4224528"/>
            <a:ext cx="1371600" cy="256032"/>
          </a:xfrm>
          <a:prstGeom prst="rect">
            <a:avLst/>
          </a:prstGeom>
          <a:solidFill>
            <a:srgbClr val="0E2233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337560" y="422452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shortlisted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754880" y="4224528"/>
            <a:ext cx="1371600" cy="256032"/>
          </a:xfrm>
          <a:prstGeom prst="rect">
            <a:avLst/>
          </a:prstGeom>
          <a:solidFill>
            <a:srgbClr val="0E2233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54880" y="422452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172200" y="4224528"/>
            <a:ext cx="1371600" cy="256032"/>
          </a:xfrm>
          <a:prstGeom prst="rect">
            <a:avLst/>
          </a:prstGeom>
          <a:solidFill>
            <a:srgbClr val="0E2233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172200" y="422452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589520" y="4224528"/>
            <a:ext cx="1371600" cy="256032"/>
          </a:xfrm>
          <a:prstGeom prst="rect">
            <a:avLst/>
          </a:prstGeom>
          <a:solidFill>
            <a:srgbClr val="0E2233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589520" y="422452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9006840" y="4224528"/>
            <a:ext cx="1371600" cy="256032"/>
          </a:xfrm>
          <a:prstGeom prst="rect">
            <a:avLst/>
          </a:prstGeom>
          <a:solidFill>
            <a:srgbClr val="0E2233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006840" y="422452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10424160" y="4224528"/>
            <a:ext cx="1371600" cy="256032"/>
          </a:xfrm>
          <a:prstGeom prst="rect">
            <a:avLst/>
          </a:prstGeom>
          <a:solidFill>
            <a:srgbClr val="0E2233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424160" y="422452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65760" y="5074920"/>
            <a:ext cx="5486400" cy="1600200"/>
          </a:xfrm>
          <a:prstGeom prst="rect">
            <a:avLst/>
          </a:prstGeom>
          <a:solidFill>
            <a:srgbClr val="17243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48640" y="51389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Tender — Form Fields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502920" y="545896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Tender title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3246120" y="545896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Annual tonnage (kg)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502920" y="573328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Markets (regions)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3246120" y="573328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Core lanes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502920" y="600760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Status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3246120" y="600760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Deadline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502920" y="628192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Requirements (text)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3246120" y="628192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Commercial expectations (text)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6035040" y="5074920"/>
            <a:ext cx="5943600" cy="1600200"/>
          </a:xfrm>
          <a:prstGeom prst="rect">
            <a:avLst/>
          </a:prstGeom>
          <a:solidFill>
            <a:srgbClr val="17243A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217920" y="51389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Table — Columns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6172200" y="545896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GSA name (link)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9098280" y="545896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Commercial score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6172200" y="573328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Network score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9098280" y="573328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Compliance score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6172200" y="600760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Proposed commission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9098280" y="600760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Status badge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6172200" y="628192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Shortlist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9098280" y="628192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Accept / Reject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GSA Workspace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discovery, proposals, profile, performance and notifications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11521440" cy="27432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70432"/>
            <a:ext cx="5623560" cy="1682496"/>
          </a:xfrm>
          <a:prstGeom prst="rect">
            <a:avLst/>
          </a:prstGeom>
          <a:solidFill>
            <a:srgbClr val="17243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70432"/>
            <a:ext cx="5623560" cy="3657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26187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0" y="126187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/gsa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93776" y="1609344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 tenders count / matched markets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" y="1938528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tenders as browsable cards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3776" y="2267712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 tender CTA per card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72200" y="1170432"/>
            <a:ext cx="5623560" cy="1682496"/>
          </a:xfrm>
          <a:prstGeom prst="rect">
            <a:avLst/>
          </a:prstGeom>
          <a:solidFill>
            <a:srgbClr val="17243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1170432"/>
            <a:ext cx="5623560" cy="36576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0216" y="126187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 Detail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738360" y="126187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/gsa/tenders/[id]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300216" y="1609344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Airline, lanes, tonnage, deadline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00216" y="1938528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Markets &amp; requirements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00216" y="2267712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91% match score + fit summary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00216" y="2596896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Apply button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980944"/>
            <a:ext cx="5623560" cy="1682496"/>
          </a:xfrm>
          <a:prstGeom prst="rect">
            <a:avLst/>
          </a:prstGeom>
          <a:solidFill>
            <a:srgbClr val="17243A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980944"/>
            <a:ext cx="5623560" cy="36576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" y="3072384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to Tender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931920" y="307238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/gsa/tenders/[id]/apply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93776" y="3419856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Commission %, timeline, account coverage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3776" y="374904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Monthly sales target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" y="4078224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Network &amp; operational readiness text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3776" y="4407408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Submit proposal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72200" y="2980944"/>
            <a:ext cx="5623560" cy="1682496"/>
          </a:xfrm>
          <a:prstGeom prst="rect">
            <a:avLst/>
          </a:prstGeom>
          <a:solidFill>
            <a:srgbClr val="17243A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72200" y="2980944"/>
            <a:ext cx="5623560" cy="3657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0216" y="3072384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Profile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738360" y="307238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/gsa/profile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300216" y="3419856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Company name, HQ, summary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00216" y="374904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Certifications badges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00216" y="4078224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Cargo focus, coverage, win rate, compliance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4791456"/>
            <a:ext cx="5623560" cy="1682496"/>
          </a:xfrm>
          <a:prstGeom prst="rect">
            <a:avLst/>
          </a:prstGeom>
          <a:solidFill>
            <a:srgbClr val="17243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" y="4791456"/>
            <a:ext cx="5623560" cy="365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" y="4882896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931920" y="488289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/gsa/performance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93776" y="5230368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Revenue trend chart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93776" y="5559552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Yield chart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93776" y="5888736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GSA-scaled data (42% of airline baseline)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172200" y="4791456"/>
            <a:ext cx="5623560" cy="1682496"/>
          </a:xfrm>
          <a:prstGeom prst="rect">
            <a:avLst/>
          </a:prstGeom>
          <a:solidFill>
            <a:srgbClr val="17243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172200" y="4791456"/>
            <a:ext cx="5623560" cy="3657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00216" y="4882896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9738360" y="488289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/gsa/notifications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300216" y="5230368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Stacked notification cards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300216" y="5559552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Title + body + timestamp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300216" y="5888736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Cyan border on unread items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&amp; Cargo Intelligence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signals sourced from LinkedIn via Apify · available to all workspaces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11521440" cy="27432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70432"/>
            <a:ext cx="7132320" cy="4069080"/>
          </a:xfrm>
          <a:prstGeom prst="rect">
            <a:avLst/>
          </a:prstGeom>
          <a:solidFill>
            <a:srgbClr val="17243A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61872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Feed  /news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719072"/>
            <a:ext cx="1097280" cy="256032"/>
          </a:xfrm>
          <a:prstGeom prst="rect">
            <a:avLst/>
          </a:prstGeom>
          <a:solidFill>
            <a:srgbClr val="0E2233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71907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GSA opportunity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709928" y="1719072"/>
            <a:ext cx="1097280" cy="256032"/>
          </a:xfrm>
          <a:prstGeom prst="rect">
            <a:avLst/>
          </a:prstGeom>
          <a:solidFill>
            <a:srgbClr val="0E2233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09928" y="171907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expansion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871216" y="1719072"/>
            <a:ext cx="1097280" cy="256032"/>
          </a:xfrm>
          <a:prstGeom prst="rect">
            <a:avLst/>
          </a:prstGeom>
          <a:solidFill>
            <a:srgbClr val="0E2233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71216" y="171907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route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032504" y="1719072"/>
            <a:ext cx="1097280" cy="256032"/>
          </a:xfrm>
          <a:prstGeom prst="rect">
            <a:avLst/>
          </a:prstGeom>
          <a:solidFill>
            <a:srgbClr val="0E2233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32504" y="171907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 capacity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193792" y="1719072"/>
            <a:ext cx="1097280" cy="256032"/>
          </a:xfrm>
          <a:prstGeom prst="rect">
            <a:avLst/>
          </a:prstGeom>
          <a:solidFill>
            <a:srgbClr val="0E2233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93792" y="171907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tender/RFP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355080" y="1719072"/>
            <a:ext cx="1097280" cy="256032"/>
          </a:xfrm>
          <a:prstGeom prst="rect">
            <a:avLst/>
          </a:prstGeom>
          <a:solidFill>
            <a:srgbClr val="0E2233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171907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48640" y="2121408"/>
            <a:ext cx="3291840" cy="1234440"/>
          </a:xfrm>
          <a:prstGeom prst="rect">
            <a:avLst/>
          </a:prstGeom>
          <a:solidFill>
            <a:srgbClr val="0F1F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2121408"/>
            <a:ext cx="3291840" cy="256032"/>
          </a:xfrm>
          <a:prstGeom prst="rect">
            <a:avLst/>
          </a:prstGeom>
          <a:solidFill>
            <a:srgbClr val="0E2233"/>
          </a:solidFill>
          <a:ln w="12700">
            <a:solidFill>
              <a:srgbClr val="0E22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2139696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GSA opportunity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40080" y="2423160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Lufthansa Cargo eyes GSA reshuffle in DACH region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0080" y="3127248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linkedin/lufthansa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023360" y="2121408"/>
            <a:ext cx="3291840" cy="1234440"/>
          </a:xfrm>
          <a:prstGeom prst="rect">
            <a:avLst/>
          </a:prstGeom>
          <a:solidFill>
            <a:srgbClr val="0F1F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23360" y="2121408"/>
            <a:ext cx="3291840" cy="256032"/>
          </a:xfrm>
          <a:prstGeom prst="rect">
            <a:avLst/>
          </a:prstGeom>
          <a:solidFill>
            <a:srgbClr val="0E2233"/>
          </a:solidFill>
          <a:ln w="12700">
            <a:solidFill>
              <a:srgbClr val="0E22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0" y="2139696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 capacity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114800" y="2423160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Emirates SkyCargo doubles pharma capacity FRA-DXB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114800" y="3127248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linkedin/emirates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8640" y="3493008"/>
            <a:ext cx="3291840" cy="1234440"/>
          </a:xfrm>
          <a:prstGeom prst="rect">
            <a:avLst/>
          </a:prstGeom>
          <a:solidFill>
            <a:srgbClr val="0F1F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3493008"/>
            <a:ext cx="3291840" cy="256032"/>
          </a:xfrm>
          <a:prstGeom prst="rect">
            <a:avLst/>
          </a:prstGeom>
          <a:solidFill>
            <a:srgbClr val="0E2233"/>
          </a:solidFill>
          <a:ln w="12700">
            <a:solidFill>
              <a:srgbClr val="0E22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3511296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route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40080" y="3794760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cold-chain route Stockholm–Chicago live Q3 2026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40080" y="4498848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linkedin/sas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023360" y="3493008"/>
            <a:ext cx="3291840" cy="1234440"/>
          </a:xfrm>
          <a:prstGeom prst="rect">
            <a:avLst/>
          </a:prstGeom>
          <a:solidFill>
            <a:srgbClr val="0F1F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023360" y="3493008"/>
            <a:ext cx="3291840" cy="256032"/>
          </a:xfrm>
          <a:prstGeom prst="rect">
            <a:avLst/>
          </a:prstGeom>
          <a:solidFill>
            <a:srgbClr val="0E2233"/>
          </a:solidFill>
          <a:ln w="12700">
            <a:solidFill>
              <a:srgbClr val="0E22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0" y="3511296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tender/RFP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114800" y="3794760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AirFrance KLM issues DACH tender — deadline July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114800" y="4498848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linkedin/afkl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680960" y="1170432"/>
            <a:ext cx="4297680" cy="4069080"/>
          </a:xfrm>
          <a:prstGeom prst="rect">
            <a:avLst/>
          </a:prstGeom>
          <a:solidFill>
            <a:srgbClr val="17243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63840" y="126187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Sources  /news/sources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863840" y="17190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Source form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955280" y="199339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Company / page name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955280" y="224942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LinkedIn URL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955280" y="250545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Category dropdown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955280" y="276148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source button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863840" y="31272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table columns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7955280" y="340156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Source name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955280" y="365760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URL (cyan link)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955280" y="391363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Category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955280" y="416966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Last import date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955280" y="442569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Status badge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7680960" y="3675888"/>
            <a:ext cx="4297680" cy="1508760"/>
          </a:xfrm>
          <a:prstGeom prst="rect">
            <a:avLst/>
          </a:prstGeom>
          <a:solidFill>
            <a:srgbClr val="17243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863840" y="37490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LinkedIn Import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7863840" y="407822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Apify actor WI0tj4Ieb5Kq458gB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7863840" y="428853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postedLimit: 1h / 24h / week / month…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7863840" y="449884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targetUrls (one per line)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7863840" y="470916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includeReposts / includeQuotePosts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7863840" y="491947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Batch mode (max 6 URLs/call)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Console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/admin · Platform operations oversight and LinkedIn import management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11521440" cy="27432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70432"/>
            <a:ext cx="2743200" cy="868680"/>
          </a:xfrm>
          <a:prstGeom prst="rect">
            <a:avLst/>
          </a:prstGeom>
          <a:solidFill>
            <a:srgbClr val="17243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3444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218688" y="1170432"/>
            <a:ext cx="2743200" cy="868680"/>
          </a:xfrm>
          <a:prstGeom prst="rect">
            <a:avLst/>
          </a:prstGeom>
          <a:solidFill>
            <a:srgbClr val="17243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01568" y="123444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01568" y="148132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071616" y="1170432"/>
            <a:ext cx="2743200" cy="868680"/>
          </a:xfrm>
          <a:prstGeom prst="rect">
            <a:avLst/>
          </a:prstGeom>
          <a:solidFill>
            <a:srgbClr val="17243A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123444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posts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54496" y="148132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8924544" y="1170432"/>
            <a:ext cx="2743200" cy="868680"/>
          </a:xfrm>
          <a:prstGeom prst="rect">
            <a:avLst/>
          </a:prstGeom>
          <a:solidFill>
            <a:srgbClr val="17243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07424" y="123444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ready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07424" y="148132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365760" y="2212848"/>
            <a:ext cx="6858000" cy="4434840"/>
          </a:xfrm>
          <a:prstGeom prst="rect">
            <a:avLst/>
          </a:prstGeom>
          <a:solidFill>
            <a:srgbClr val="17243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304288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Import — Left Panel (Settings)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2679192"/>
            <a:ext cx="6583680" cy="603504"/>
          </a:xfrm>
          <a:prstGeom prst="rect">
            <a:avLst/>
          </a:prstGeom>
          <a:solidFill>
            <a:srgbClr val="0F1F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271576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Token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58368" y="2971800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Apify API key — stored in browser localStorage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3355848"/>
            <a:ext cx="6583680" cy="603504"/>
          </a:xfrm>
          <a:prstGeom prst="rect">
            <a:avLst/>
          </a:prstGeom>
          <a:solidFill>
            <a:srgbClr val="0F1F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339242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pages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8368" y="3648456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URL per line (profile / company / post URLs)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" y="4032504"/>
            <a:ext cx="6583680" cy="603504"/>
          </a:xfrm>
          <a:prstGeom prst="rect">
            <a:avLst/>
          </a:prstGeom>
          <a:solidFill>
            <a:srgbClr val="0F1F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40690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posts from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58368" y="4325112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Dropdown: 1h / 24h / week / month / year / any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2920" y="4709160"/>
            <a:ext cx="6583680" cy="603504"/>
          </a:xfrm>
          <a:prstGeom prst="rect">
            <a:avLst/>
          </a:prstGeom>
          <a:solidFill>
            <a:srgbClr val="0F1F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474573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import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58368" y="5001768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Checkbox + interval (hours / days / weeks)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02920" y="5385816"/>
            <a:ext cx="6583680" cy="603504"/>
          </a:xfrm>
          <a:prstGeom prst="rect">
            <a:avLst/>
          </a:prstGeom>
          <a:solidFill>
            <a:srgbClr val="0F1F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" y="542239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reposts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58368" y="5678424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reposts &amp; quote posts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406640" y="2212848"/>
            <a:ext cx="4572000" cy="2194560"/>
          </a:xfrm>
          <a:prstGeom prst="rect">
            <a:avLst/>
          </a:prstGeom>
          <a:solidFill>
            <a:srgbClr val="17243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89520" y="2304288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Setup Summary (Right Panel)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589520" y="265176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Sources watched (count)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589520" y="292608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Posts from (human label)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589520" y="320040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Apify filter value (mono)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589520" y="347472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Schedule on/off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589520" y="374904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Quote posts included/ignored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589520" y="402336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Reposts included/ignored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406640" y="4544568"/>
            <a:ext cx="4572000" cy="2084832"/>
          </a:xfrm>
          <a:prstGeom prst="rect">
            <a:avLst/>
          </a:prstGeom>
          <a:solidFill>
            <a:srgbClr val="17243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89520" y="463600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Preview (after import)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589520" y="496519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Author name + LinkedIn URL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589520" y="523951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 text (4-line clamp)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589520" y="551383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Published date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589520" y="578815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Media cards (image / document)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589520" y="606247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Width × height if available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Architecture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foundations with mock-data fallback for demos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11521440" cy="27432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70432"/>
            <a:ext cx="2743200" cy="4297680"/>
          </a:xfrm>
          <a:prstGeom prst="rect">
            <a:avLst/>
          </a:prstGeom>
          <a:solidFill>
            <a:srgbClr val="17243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70432"/>
            <a:ext cx="2743200" cy="34747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188720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682496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(App Router)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176272"/>
            <a:ext cx="256032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203704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697480"/>
            <a:ext cx="256032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72491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v4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218688"/>
            <a:ext cx="256032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24612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Lucide React (icons)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739896"/>
            <a:ext cx="256032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76732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(KPI charts)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4261104"/>
            <a:ext cx="256032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288536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5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4782312"/>
            <a:ext cx="256032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10128" y="1170432"/>
            <a:ext cx="2743200" cy="4297680"/>
          </a:xfrm>
          <a:prstGeom prst="rect">
            <a:avLst/>
          </a:prstGeom>
          <a:solidFill>
            <a:srgbClr val="17243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10128" y="1170432"/>
            <a:ext cx="2743200" cy="3474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19856" y="1188720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API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47288" y="1682496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Route Handlers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401568" y="2176272"/>
            <a:ext cx="256032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47288" y="2203704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runtime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401568" y="2697480"/>
            <a:ext cx="256032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47288" y="272491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Apify Client SDK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401568" y="3218688"/>
            <a:ext cx="256032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47288" y="324612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Actor: WI0tj4Ieb5Kq458gB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401568" y="3739896"/>
            <a:ext cx="256032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47288" y="376732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size: 6 URLs/call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401568" y="4261104"/>
            <a:ext cx="256032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47288" y="4288536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maxDuration: 300 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401568" y="4782312"/>
            <a:ext cx="256032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54496" y="1170432"/>
            <a:ext cx="2743200" cy="4297680"/>
          </a:xfrm>
          <a:prstGeom prst="rect">
            <a:avLst/>
          </a:prstGeom>
          <a:solidFill>
            <a:srgbClr val="17243A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54496" y="1170432"/>
            <a:ext cx="2743200" cy="347472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64224" y="1188720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391656" y="1682496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(PostgreSQL)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345936" y="2176272"/>
            <a:ext cx="256032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91656" y="2203704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supabase-js client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345936" y="2697480"/>
            <a:ext cx="256032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91656" y="272491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news_posts table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345936" y="3218688"/>
            <a:ext cx="256032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91656" y="324612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role key (server)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345936" y="3739896"/>
            <a:ext cx="256032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91656" y="376732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 key (client)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345936" y="4261104"/>
            <a:ext cx="256032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91656" y="4288536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mock-data.ts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345936" y="4782312"/>
            <a:ext cx="256032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198864" y="1170432"/>
            <a:ext cx="2743200" cy="4297680"/>
          </a:xfrm>
          <a:prstGeom prst="rect">
            <a:avLst/>
          </a:prstGeom>
          <a:solidFill>
            <a:srgbClr val="17243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198864" y="1170432"/>
            <a:ext cx="2743200" cy="34747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308592" y="1188720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9336024" y="1682496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(production)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9290304" y="2176272"/>
            <a:ext cx="256032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336024" y="2203704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LINKEDIN_API_TOKEN env var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9290304" y="2697480"/>
            <a:ext cx="256032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336024" y="272491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auto-assigned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9290304" y="3218688"/>
            <a:ext cx="256032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336024" y="324612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scripts/start.mjs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9290304" y="3739896"/>
            <a:ext cx="256032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336024" y="376732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≥ 20, &lt; 23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9290304" y="4261104"/>
            <a:ext cx="256032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336024" y="4288536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repo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9290304" y="4782312"/>
            <a:ext cx="256032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65760" y="5605272"/>
            <a:ext cx="11430000" cy="1051560"/>
          </a:xfrm>
          <a:prstGeom prst="rect">
            <a:avLst/>
          </a:prstGeom>
          <a:solidFill>
            <a:srgbClr val="0F1F3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48640" y="56692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environment variables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48640" y="598017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LINKEDIN_API_TOKEN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548640" y="621792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Apify API key *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3383280" y="598017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NEXT_PUBLIC_SUPABASE_URL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3383280" y="621792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project URL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6217920" y="598017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NEXT_PUBLIC_SUPABASE_ANON_KEY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6217920" y="621792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anon key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9052560" y="598017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SUPABASE_SERVICE_ROLE_KEY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9052560" y="621792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admin key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2026-04-29T00:07:33Z</dcterms:created>
  <dcterms:modified xsi:type="dcterms:W3CDTF">2026-04-29T00:07:33Z</dcterms:modified>
</cp:coreProperties>
</file>